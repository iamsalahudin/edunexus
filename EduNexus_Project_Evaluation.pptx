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Segoe UI"/>
              </a:rPr>
              <a:t>FINAL YEAR PROJECT  •  PROJECT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EduNexus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CFE9E5"/>
                </a:solidFill>
                <a:latin typeface="Segoe UI"/>
              </a:rPr>
              <a:t>An AI-Powered School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B8C2D4"/>
                </a:solidFill>
                <a:latin typeface="Segoe UI"/>
              </a:rPr>
              <a:t>Automating academic &amp; administrative operations with intelligent, natural-language interaction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4572000"/>
            <a:ext cx="1417320" cy="329184"/>
          </a:xfrm>
          <a:prstGeom prst="roundRect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Next.js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4572000"/>
            <a:ext cx="1417320" cy="329184"/>
          </a:xfrm>
          <a:prstGeom prst="roundRect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Node / Express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45736" y="4572000"/>
            <a:ext cx="1417320" cy="329184"/>
          </a:xfrm>
          <a:prstGeom prst="roundRect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MongoDB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4572000"/>
            <a:ext cx="1417320" cy="329184"/>
          </a:xfrm>
          <a:prstGeom prst="roundRect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n8n AI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99832" y="4572000"/>
            <a:ext cx="1417320" cy="329184"/>
          </a:xfrm>
          <a:prstGeom prst="roundRect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Redis + Bull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4572000"/>
            <a:ext cx="1417320" cy="329184"/>
          </a:xfrm>
          <a:prstGeom prst="roundRect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JWT /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6BC"/>
                </a:solidFill>
                <a:latin typeface="Segoe UI"/>
              </a:rPr>
              <a:t>Methodology: Iterative Waterfall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THE GAP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675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4B8A6"/>
                </a:solidFill>
                <a:latin typeface="Segoe UI"/>
              </a:rPr>
              <a:t>▸ </a:t>
            </a:r>
            <a:r>
              <a:rPr sz="1700">
                <a:solidFill>
                  <a:srgbClr val="222833"/>
                </a:solidFill>
                <a:latin typeface="Segoe UI"/>
              </a:rPr>
              <a:t>Educational institutions still rely on outdated or disconnected software systems that rarely talk to each other.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4B8A6"/>
                </a:solidFill>
                <a:latin typeface="Segoe UI"/>
              </a:rPr>
              <a:t>▸ </a:t>
            </a:r>
            <a:r>
              <a:rPr sz="1700">
                <a:solidFill>
                  <a:srgbClr val="222833"/>
                </a:solidFill>
                <a:latin typeface="Segoe UI"/>
              </a:rPr>
              <a:t>Academic and administrative processes (attendance, marks, fees, timetables, complaints) demand heavy manual effort — they are labor-intensive, error-prone and time-consuming.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4B8A6"/>
                </a:solidFill>
                <a:latin typeface="Segoe UI"/>
              </a:rPr>
              <a:t>▸ </a:t>
            </a:r>
            <a:r>
              <a:rPr sz="1700">
                <a:solidFill>
                  <a:srgbClr val="222833"/>
                </a:solidFill>
                <a:latin typeface="Segoe UI"/>
              </a:rPr>
              <a:t>Data is locked in silos, so management cannot get quick, reliable answers or insights for decision-making.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4B8A6"/>
                </a:solidFill>
                <a:latin typeface="Segoe UI"/>
              </a:rPr>
              <a:t>▸ </a:t>
            </a:r>
            <a:r>
              <a:rPr sz="1700">
                <a:solidFill>
                  <a:srgbClr val="222833"/>
                </a:solidFill>
                <a:latin typeface="Segoe UI"/>
              </a:rPr>
              <a:t>Non-technical staff struggle with complex dashboards and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554480"/>
            <a:ext cx="3931920" cy="365760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600" b="0">
                <a:solidFill>
                  <a:srgbClr val="FFFFFF"/>
                </a:solidFill>
                <a:latin typeface="Segoe UI"/>
              </a:rPr>
              <a:t>OUR ANSWER
A single, integrated, AI-powered platform that automates academic &amp; administrative operations — and lets any user simply ASK questions in natural language to get insights, summaries, charts and downloadable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54480"/>
            <a:ext cx="3931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OUR ANSWER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MARKET STUDY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Related Projects / Existing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377440" cy="841248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SIMSIN ERP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371600"/>
            <a:ext cx="84124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50" b="0">
                <a:solidFill>
                  <a:srgbClr val="222833"/>
                </a:solidFill>
                <a:latin typeface="Segoe UI"/>
              </a:rPr>
              <a:t>Comprehensive school ERP; modular but heavy to configure and largely menu-driven with no AI assistance.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2377440" cy="841248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Edusuite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2331720"/>
            <a:ext cx="84124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50" b="0">
                <a:solidFill>
                  <a:srgbClr val="222833"/>
                </a:solidFill>
                <a:latin typeface="Segoe UI"/>
              </a:rPr>
              <a:t>Cloud academic suite covering admissions, exams &amp; fees; limited conversational analytics.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2377440" cy="841248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Fedena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3291840"/>
            <a:ext cx="84124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50" b="0">
                <a:solidFill>
                  <a:srgbClr val="222833"/>
                </a:solidFill>
                <a:latin typeface="Segoe UI"/>
              </a:rPr>
              <a:t>Popular open-source/SaaS school ERP; broad modules but reporting is static and report-building is manual.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0"/>
            <a:ext cx="2377440" cy="841248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Entab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251960"/>
            <a:ext cx="84124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50" b="0">
                <a:solidFill>
                  <a:srgbClr val="222833"/>
                </a:solidFill>
                <a:latin typeface="Segoe UI"/>
              </a:rPr>
              <a:t>Established Indian school management &amp; parent-app vendor; strong on operations, weak on natural-language insight.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2377440" cy="841248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Skoolie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5212080"/>
            <a:ext cx="84124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50" b="0">
                <a:solidFill>
                  <a:srgbClr val="222833"/>
                </a:solidFill>
                <a:latin typeface="Segoe UI"/>
              </a:rPr>
              <a:t>Lightweight school app focused on communication &amp; attendance; narrow administrative coverage.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A6372"/>
                </a:solidFill>
                <a:latin typeface="Segoe UI"/>
              </a:rPr>
              <a:t>Gap addressed by EduNexus: an end-to-end, role-aware platform with a built-in AI query engine — no manual report building.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OVERVIEW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Our Project — EduNexus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833"/>
                </a:solidFill>
                <a:latin typeface="Segoe UI"/>
              </a:rPr>
              <a:t>EduNexus is a unified, cloud-ready School Management System that replaces fragmented manual workflows with one connected platform. It combines a role-based operational core (attendance, examinations, fees, timetables, homework, complaints, transport &amp; communication) with an AI query engine that turns plain natural-language questions into secure, role-scoped insights, charts and downloadable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269748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Unified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10128"/>
            <a:ext cx="2697480" cy="1691640"/>
          </a:xfrm>
          <a:prstGeom prst="round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0">
                <a:solidFill>
                  <a:srgbClr val="222833"/>
                </a:solidFill>
                <a:latin typeface="Segoe UI"/>
              </a:rPr>
              <a:t>One system for academics, finance, HR &amp; operations — no more disconnected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2788920"/>
            <a:ext cx="2697480" cy="502920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AI Query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3310128"/>
            <a:ext cx="2697480" cy="1691640"/>
          </a:xfrm>
          <a:prstGeom prst="roundRect">
            <a:avLst/>
          </a:prstGeom>
          <a:solidFill>
            <a:srgbClr val="D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0">
                <a:solidFill>
                  <a:srgbClr val="222833"/>
                </a:solidFill>
                <a:latin typeface="Segoe UI"/>
              </a:rPr>
              <a:t>Ask in natural language; an n8n-driven agent answers within each user's permissions.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2788920"/>
            <a:ext cx="2697480" cy="502920"/>
          </a:xfrm>
          <a:prstGeom prst="roundRect">
            <a:avLst/>
          </a:prstGeom>
          <a:solidFill>
            <a:srgbClr val="9A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Role-Based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3310128"/>
            <a:ext cx="2697480" cy="1691640"/>
          </a:xfrm>
          <a:prstGeom prst="roundRect">
            <a:avLst/>
          </a:prstGeom>
          <a:solidFill>
            <a:srgbClr val="FDF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0">
                <a:solidFill>
                  <a:srgbClr val="222833"/>
                </a:solidFill>
                <a:latin typeface="Segoe UI"/>
              </a:rPr>
              <a:t>8 roles — Admin, Principal, Finance, HR, Reception, Teacher, Student, Parent.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26296" y="2788920"/>
            <a:ext cx="269748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Real-Time Insight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26296" y="3310128"/>
            <a:ext cx="2697480" cy="1691640"/>
          </a:xfrm>
          <a:prstGeom prst="round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0">
                <a:solidFill>
                  <a:srgbClr val="222833"/>
                </a:solidFill>
                <a:latin typeface="Segoe UI"/>
              </a:rPr>
              <a:t>Live dashboards, push notifications &amp; secure in-house messaging.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Segoe UI"/>
              </a:rPr>
              <a:t>Technology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669280"/>
            <a:ext cx="18288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0">
                <a:solidFill>
                  <a:srgbClr val="222833"/>
                </a:solidFill>
                <a:latin typeface="Segoe UI"/>
              </a:rPr>
              <a:t>Frontend: Next.js / React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5669280"/>
            <a:ext cx="18288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0">
                <a:solidFill>
                  <a:srgbClr val="222833"/>
                </a:solidFill>
                <a:latin typeface="Segoe UI"/>
              </a:rPr>
              <a:t>Backend: Node.js + Express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5669280"/>
            <a:ext cx="18288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0">
                <a:solidFill>
                  <a:srgbClr val="222833"/>
                </a:solidFill>
                <a:latin typeface="Segoe UI"/>
              </a:rPr>
              <a:t>DB: MongoDB (Mongoose, ~60 models)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5669280"/>
            <a:ext cx="18288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0">
                <a:solidFill>
                  <a:srgbClr val="222833"/>
                </a:solidFill>
                <a:latin typeface="Segoe UI"/>
              </a:rPr>
              <a:t>AI Orchestration: n8n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5669280"/>
            <a:ext cx="18288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0">
                <a:solidFill>
                  <a:srgbClr val="222833"/>
                </a:solidFill>
                <a:latin typeface="Segoe UI"/>
              </a:rPr>
              <a:t>Queue/Cache: Redis + Bull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5669280"/>
            <a:ext cx="18288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0">
                <a:solidFill>
                  <a:srgbClr val="222833"/>
                </a:solidFill>
                <a:latin typeface="Segoe UI"/>
              </a:rPr>
              <a:t>Auth: JWT + RBAC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PROCESS MODEL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Methodology — Iterative Waterfall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22833"/>
                </a:solidFill>
                <a:latin typeface="Segoe UI"/>
              </a:rPr>
              <a:t>We followed the Iterative Waterfall model: classic Waterfall phases executed in sequence, but with feedback loops that let us return to an earlier phase to refine requirements or fix defects each iteration.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607" y="2468880"/>
            <a:ext cx="1691640" cy="868680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Requirements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38247" y="2903220"/>
            <a:ext cx="109728" cy="0"/>
          </a:xfrm>
          <a:prstGeom prst="line">
            <a:avLst/>
          </a:prstGeom>
          <a:ln w="31750">
            <a:solidFill>
              <a:srgbClr val="F2A9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47975" y="2468880"/>
            <a:ext cx="1691640" cy="8686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Design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39615" y="2903220"/>
            <a:ext cx="109728" cy="0"/>
          </a:xfrm>
          <a:prstGeom prst="line">
            <a:avLst/>
          </a:prstGeom>
          <a:ln w="31750">
            <a:solidFill>
              <a:srgbClr val="F2A9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49343" y="2468880"/>
            <a:ext cx="1691640" cy="868680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Implementation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40983" y="2903220"/>
            <a:ext cx="109728" cy="0"/>
          </a:xfrm>
          <a:prstGeom prst="line">
            <a:avLst/>
          </a:prstGeom>
          <a:ln w="31750">
            <a:solidFill>
              <a:srgbClr val="F2A9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50711" y="2468880"/>
            <a:ext cx="1691640" cy="8686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Testing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2351" y="2903220"/>
            <a:ext cx="109728" cy="0"/>
          </a:xfrm>
          <a:prstGeom prst="line">
            <a:avLst/>
          </a:prstGeom>
          <a:ln w="31750">
            <a:solidFill>
              <a:srgbClr val="F2A9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952079" y="2468880"/>
            <a:ext cx="1691640" cy="868680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Deployment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43719" y="2903220"/>
            <a:ext cx="109728" cy="0"/>
          </a:xfrm>
          <a:prstGeom prst="line">
            <a:avLst/>
          </a:prstGeom>
          <a:ln w="31750">
            <a:solidFill>
              <a:srgbClr val="F2A9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53447" y="2468880"/>
            <a:ext cx="1691640" cy="8686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Maintenance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996531" y="3337560"/>
            <a:ext cx="1801368" cy="457200"/>
          </a:xfrm>
          <a:prstGeom prst="line">
            <a:avLst/>
          </a:prstGeom>
          <a:ln w="15875">
            <a:solidFill>
              <a:srgbClr val="5A6372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195163" y="3337560"/>
            <a:ext cx="1801368" cy="457200"/>
          </a:xfrm>
          <a:prstGeom prst="line">
            <a:avLst/>
          </a:prstGeom>
          <a:ln w="15875">
            <a:solidFill>
              <a:srgbClr val="5A6372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393795" y="3337560"/>
            <a:ext cx="1801368" cy="457200"/>
          </a:xfrm>
          <a:prstGeom prst="line">
            <a:avLst/>
          </a:prstGeom>
          <a:ln w="15875">
            <a:solidFill>
              <a:srgbClr val="5A6372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592427" y="3337560"/>
            <a:ext cx="1801368" cy="457200"/>
          </a:xfrm>
          <a:prstGeom prst="line">
            <a:avLst/>
          </a:prstGeom>
          <a:ln w="15875">
            <a:solidFill>
              <a:srgbClr val="5A6372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A6372"/>
                </a:solidFill>
                <a:latin typeface="Segoe UI"/>
              </a:rPr>
              <a:t>Dashed arrows = feedback loops: each test/review cycle can revisit earlier phases (iterative refinement).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1">
                <a:solidFill>
                  <a:srgbClr val="14B8A6"/>
                </a:solidFill>
                <a:latin typeface="Segoe UI"/>
              </a:rPr>
              <a:t>▸ </a:t>
            </a:r>
            <a:r>
              <a:rPr sz="1450" b="1">
                <a:solidFill>
                  <a:srgbClr val="1F2A44"/>
                </a:solidFill>
                <a:latin typeface="Segoe UI"/>
              </a:rPr>
              <a:t>Why this model:  </a:t>
            </a:r>
            <a:r>
              <a:rPr sz="1450">
                <a:solidFill>
                  <a:srgbClr val="222833"/>
                </a:solidFill>
                <a:latin typeface="Segoe UI"/>
              </a:rPr>
              <a:t>Requirements were largely known up-front (school operations are well understood), so a structured Waterfall fit.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14B8A6"/>
                </a:solidFill>
                <a:latin typeface="Segoe UI"/>
              </a:rPr>
              <a:t>▸ </a:t>
            </a:r>
            <a:r>
              <a:rPr sz="1450" b="1">
                <a:solidFill>
                  <a:srgbClr val="1F2A44"/>
                </a:solidFill>
                <a:latin typeface="Segoe UI"/>
              </a:rPr>
              <a:t>Iteration added:  </a:t>
            </a:r>
            <a:r>
              <a:rPr sz="1450">
                <a:solidFill>
                  <a:srgbClr val="222833"/>
                </a:solidFill>
                <a:latin typeface="Segoe UI"/>
              </a:rPr>
              <a:t>AI features, new roles and modules were refined across cycles based on supervisor &amp; user feedback.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14B8A6"/>
                </a:solidFill>
                <a:latin typeface="Segoe UI"/>
              </a:rPr>
              <a:t>▸ </a:t>
            </a:r>
            <a:r>
              <a:rPr sz="1450" b="1">
                <a:solidFill>
                  <a:srgbClr val="1F2A44"/>
                </a:solidFill>
                <a:latin typeface="Segoe UI"/>
              </a:rPr>
              <a:t>Risk control:  </a:t>
            </a:r>
            <a:r>
              <a:rPr sz="1450">
                <a:solidFill>
                  <a:srgbClr val="222833"/>
                </a:solidFill>
                <a:latin typeface="Segoe UI"/>
              </a:rPr>
              <a:t>Each phase is verified before the next, reducing rework while still allowing controlled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GOAL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966960" cy="15544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To design and develop an AI-powered, role-based School Management System that automates core academic and administrative operations and enables every user to obtain accurate, secure, permission-aware insights and reports through simple natural-language interaction.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Segoe UI"/>
              </a:rPr>
              <a:t>Supporting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▸ </a:t>
            </a:r>
            <a:r>
              <a:rPr sz="1500">
                <a:solidFill>
                  <a:srgbClr val="222833"/>
                </a:solidFill>
                <a:latin typeface="Segoe UI"/>
              </a:rPr>
              <a:t>Eliminate manual, paper-based and disconnected processes through one integrated platform.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▸ </a:t>
            </a:r>
            <a:r>
              <a:rPr sz="1500">
                <a:solidFill>
                  <a:srgbClr val="222833"/>
                </a:solidFill>
                <a:latin typeface="Segoe UI"/>
              </a:rPr>
              <a:t>Enforce strict role-based access so users see only what they are permitted to.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▸ </a:t>
            </a:r>
            <a:r>
              <a:rPr sz="1500">
                <a:solidFill>
                  <a:srgbClr val="222833"/>
                </a:solidFill>
                <a:latin typeface="Segoe UI"/>
              </a:rPr>
              <a:t>Provide an AI query engine that returns insights, summaries, charts and downloadable reports on demand.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▸ </a:t>
            </a:r>
            <a:r>
              <a:rPr sz="1500">
                <a:solidFill>
                  <a:srgbClr val="222833"/>
                </a:solidFill>
                <a:latin typeface="Segoe UI"/>
              </a:rPr>
              <a:t>Improve transparency and communication between school, teachers, students and parents.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▸ </a:t>
            </a:r>
            <a:r>
              <a:rPr sz="1500">
                <a:solidFill>
                  <a:srgbClr val="222833"/>
                </a:solidFill>
                <a:latin typeface="Segoe UI"/>
              </a:rPr>
              <a:t>Deliver a responsive, reliable and maintainable system suitable for real institutions.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SCOPE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Project Scope (Pakistan)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833"/>
                </a:solidFill>
                <a:latin typeface="Segoe UI"/>
              </a:rPr>
              <a:t>EduNexus targets schools and academic institutions across Pakistan — from single-campus private schools to multi-section setups — that need an affordable, locally-relevant alternative to fragmented registers and costly foreign ERPs.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▸ </a:t>
            </a:r>
            <a:r>
              <a:rPr sz="1500" b="1">
                <a:solidFill>
                  <a:srgbClr val="1F2A44"/>
                </a:solidFill>
                <a:latin typeface="Segoe UI"/>
              </a:rPr>
              <a:t>Target users:  </a:t>
            </a:r>
            <a:r>
              <a:rPr sz="1500">
                <a:solidFill>
                  <a:srgbClr val="222833"/>
                </a:solidFill>
                <a:latin typeface="Segoe UI"/>
              </a:rPr>
              <a:t>Private schools, academies and college sections in Pakistan; admin, faculty, students &amp; parents.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▸ </a:t>
            </a:r>
            <a:r>
              <a:rPr sz="1500" b="1">
                <a:solidFill>
                  <a:srgbClr val="1F2A44"/>
                </a:solidFill>
                <a:latin typeface="Segoe UI"/>
              </a:rPr>
              <a:t>Local fit:  </a:t>
            </a:r>
            <a:r>
              <a:rPr sz="1500">
                <a:solidFill>
                  <a:srgbClr val="222833"/>
                </a:solidFill>
                <a:latin typeface="Segoe UI"/>
              </a:rPr>
              <a:t>Supports Pakistani academic patterns — term/result cards, fee + concession structures, transport fees, and parent communication.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▸ </a:t>
            </a:r>
            <a:r>
              <a:rPr sz="1500" b="1">
                <a:solidFill>
                  <a:srgbClr val="1F2A44"/>
                </a:solidFill>
                <a:latin typeface="Segoe UI"/>
              </a:rPr>
              <a:t>Affordability:  </a:t>
            </a:r>
            <a:r>
              <a:rPr sz="1500">
                <a:solidFill>
                  <a:srgbClr val="222833"/>
                </a:solidFill>
                <a:latin typeface="Segoe UI"/>
              </a:rPr>
              <a:t>Cloud-ready and open-source-stack based to keep deployment cost low for local institutions.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▸ </a:t>
            </a:r>
            <a:r>
              <a:rPr sz="1500" b="1">
                <a:solidFill>
                  <a:srgbClr val="1F2A44"/>
                </a:solidFill>
                <a:latin typeface="Segoe UI"/>
              </a:rPr>
              <a:t>Accessibility:  </a:t>
            </a:r>
            <a:r>
              <a:rPr sz="1500">
                <a:solidFill>
                  <a:srgbClr val="222833"/>
                </a:solidFill>
                <a:latin typeface="Segoe UI"/>
              </a:rPr>
              <a:t>Responsive web on desktop, tablet &amp; mobile — usable on the devices Pakistani parents &amp; staff already own.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▸ </a:t>
            </a:r>
            <a:r>
              <a:rPr sz="1500" b="1">
                <a:solidFill>
                  <a:srgbClr val="1F2A44"/>
                </a:solidFill>
                <a:latin typeface="Segoe UI"/>
              </a:rPr>
              <a:t>Coverage:  </a:t>
            </a:r>
            <a:r>
              <a:rPr sz="1500">
                <a:solidFill>
                  <a:srgbClr val="222833"/>
                </a:solidFill>
                <a:latin typeface="Segoe UI"/>
              </a:rPr>
              <a:t>Attendance, exams/report cards, fees &amp; transport, timetables, homework, complaints, notifications, messaging and AI insights.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▸ </a:t>
            </a:r>
            <a:r>
              <a:rPr sz="1500" b="1">
                <a:solidFill>
                  <a:srgbClr val="1F2A44"/>
                </a:solidFill>
                <a:latin typeface="Segoe UI"/>
              </a:rPr>
              <a:t>Out of scope:  </a:t>
            </a:r>
            <a:r>
              <a:rPr sz="1500">
                <a:solidFill>
                  <a:srgbClr val="222833"/>
                </a:solidFill>
                <a:latin typeface="Segoe UI"/>
              </a:rPr>
              <a:t>Hardware (biometric/RFID) integration, native mobile apps and offline mode are future enhancements.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FUNCTIONAL REQUIREMENTS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Functional Requirements (1 of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108960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FR-1 — Authentication &amp; RBAC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325880"/>
            <a:ext cx="7863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0">
                <a:solidFill>
                  <a:srgbClr val="222833"/>
                </a:solidFill>
                <a:latin typeface="Segoe UI"/>
              </a:rPr>
              <a:t>Secure JWT-based authentication with encrypted password validation; dashboards and access load per the role and permissions assigned to each 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108960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FR-2 — User &amp; Role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194560"/>
            <a:ext cx="7863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0">
                <a:solidFill>
                  <a:srgbClr val="222833"/>
                </a:solidFill>
                <a:latin typeface="Segoe UI"/>
              </a:rPr>
              <a:t>Admin can create, update, delete and assign roles: Admin, Principal, Finance, HR, Reception, Teacher, Student, Parent.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3108960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FR-3 — Attendance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3063240"/>
            <a:ext cx="7863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0">
                <a:solidFill>
                  <a:srgbClr val="222833"/>
                </a:solidFill>
                <a:latin typeface="Segoe UI"/>
              </a:rPr>
              <a:t>Teachers record and edit daily attendance; Admin, Principal, HR, Parents, Students &amp; Reception view summaries or details per access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3108960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FR-4 — Examination &amp; Report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3931920"/>
            <a:ext cx="7863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0">
                <a:solidFill>
                  <a:srgbClr val="222833"/>
                </a:solidFill>
                <a:latin typeface="Segoe UI"/>
              </a:rPr>
              <a:t>Teachers enter marks, grades &amp; comments; report cards auto-generate; Principals approve final batches; Students/Parents view or download published cards.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3108960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FR-5 — Timetable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4800600"/>
            <a:ext cx="7863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0">
                <a:solidFill>
                  <a:srgbClr val="222833"/>
                </a:solidFill>
                <a:latin typeface="Segoe UI"/>
              </a:rPr>
              <a:t>Admin uploads/edits class timetables; Teachers, Students, Parents, Principal &amp; Reception access updated timetables with role-appropriate visibility.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69280"/>
            <a:ext cx="3108960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FR-6 — Complaints &amp; 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5669280"/>
            <a:ext cx="7863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0">
                <a:solidFill>
                  <a:srgbClr val="222833"/>
                </a:solidFill>
                <a:latin typeface="Segoe UI"/>
              </a:rPr>
              <a:t>Teachers, Parents &amp; Students submit complaints/feedback; Principal tracks, assigns &amp; resolves; complainant gets real-time status updates.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FUNCTIONAL REQUIREMENTS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Functional Requirements (2 of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108960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FR-7 — Homework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325880"/>
            <a:ext cx="7863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0">
                <a:solidFill>
                  <a:srgbClr val="222833"/>
                </a:solidFill>
                <a:latin typeface="Segoe UI"/>
              </a:rPr>
              <a:t>Teachers post homework &amp; change status; Students submit digitally; Parents view homework &amp; status; Principal audits posting &amp; workload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108960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FR-8 — Fee &amp; Finance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194560"/>
            <a:ext cx="7863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0">
                <a:solidFill>
                  <a:srgbClr val="222833"/>
                </a:solidFill>
                <a:latin typeface="Segoe UI"/>
              </a:rPr>
              <a:t>Principal/Finance manage fee structure, payments, concessions, receipts, financial reports &amp; transport payments; Parents/Students/Reception view or verify status per permissions.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3108960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FR-9 — AI Query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3063240"/>
            <a:ext cx="7863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0">
                <a:solidFill>
                  <a:srgbClr val="222833"/>
                </a:solidFill>
                <a:latin typeface="Segoe UI"/>
              </a:rPr>
              <a:t>AI-powered engine takes natural-language questions and returns insights, summaries, charts or downloadable reports based on the user's role permissions.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3108960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FR-10 — Notifications &amp; Messaging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3931920"/>
            <a:ext cx="7863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0">
                <a:solidFill>
                  <a:srgbClr val="222833"/>
                </a:solidFill>
                <a:latin typeface="Segoe UI"/>
              </a:rPr>
              <a:t>Principal pushes notifications (attendance, grades, announcements, fee reminders, holidays, staff alerts) plus secure, monitored in-house messaging by permission.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3108960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FR-11 — Transport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4800600"/>
            <a:ext cx="7863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0">
                <a:solidFill>
                  <a:srgbClr val="222833"/>
                </a:solidFill>
                <a:latin typeface="Segoe UI"/>
              </a:rPr>
              <a:t>Finance manages transport payment records; Reception checks enrollment &amp; payment status; Parents/Students view transport details; Admin configures routes.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QUALITY ATTRIBUTES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Non-Functional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07008"/>
            <a:ext cx="2926080" cy="658368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NFR-1 —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207008"/>
            <a:ext cx="8046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>
                <a:solidFill>
                  <a:srgbClr val="222833"/>
                </a:solidFill>
                <a:latin typeface="Segoe UI"/>
              </a:rPr>
              <a:t>Key metrics refresh at least every 5 minutes; supports ≥100 concurrent users while keeping dashboard, report, query and AI-insight response times under 90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38528"/>
            <a:ext cx="2926080" cy="658368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NFR-2 —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938528"/>
            <a:ext cx="8046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>
                <a:solidFill>
                  <a:srgbClr val="222833"/>
                </a:solidFill>
                <a:latin typeface="Segoe UI"/>
              </a:rPr>
              <a:t>Encrypts communications over HTTPS, enforces JWT authentication and strictly applies role-based access control for all user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70048"/>
            <a:ext cx="2926080" cy="658368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NFR-3 — Compatibility / Responsiveness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670048"/>
            <a:ext cx="8046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>
                <a:solidFill>
                  <a:srgbClr val="222833"/>
                </a:solidFill>
                <a:latin typeface="Segoe UI"/>
              </a:rPr>
              <a:t>Responsive interface that works across desktop, tablet and mobile to ensure accessibility and usability for all users.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01568"/>
            <a:ext cx="2926080" cy="658368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NFR-4 — Usability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401568"/>
            <a:ext cx="8046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>
                <a:solidFill>
                  <a:srgbClr val="222833"/>
                </a:solidFill>
                <a:latin typeface="Segoe UI"/>
              </a:rPr>
              <a:t>Provides tool-tips, guided help, contextual prompts and personalized role-based dashboards for each role's frequent tasks.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33088"/>
            <a:ext cx="2926080" cy="658368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NFR-5 — Reliability / Availability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4133088"/>
            <a:ext cx="8046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>
                <a:solidFill>
                  <a:srgbClr val="222833"/>
                </a:solidFill>
                <a:latin typeface="Segoe UI"/>
              </a:rPr>
              <a:t>Maintains ≥90% uptime under normal load and ensures operational reliability of all core institutional processes.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64608"/>
            <a:ext cx="2926080" cy="658368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NFR-6 — Recoverability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4864608"/>
            <a:ext cx="8046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>
                <a:solidFill>
                  <a:srgbClr val="222833"/>
                </a:solidFill>
                <a:latin typeface="Segoe UI"/>
              </a:rPr>
              <a:t>Automatic backups with full restoration of all critical data, ensuring data integrity and recoverability.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96128"/>
            <a:ext cx="2926080" cy="658368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NFR-7 — Maintainability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5596128"/>
            <a:ext cx="8046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>
                <a:solidFill>
                  <a:srgbClr val="222833"/>
                </a:solidFill>
                <a:latin typeface="Segoe UI"/>
              </a:rPr>
              <a:t>Well-documented, modular codebase with extensive API documentation plus error-tracking, logging and monitoring tools.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B8A6"/>
                </a:solidFill>
                <a:latin typeface="Segoe UI"/>
              </a:rPr>
              <a:t>MODULE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AI Chat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02336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B8C2D4"/>
                </a:solidFill>
                <a:latin typeface="Segoe UI"/>
              </a:rPr>
              <a:t>Natural-language query engine — the user asks, an n8n AI agent answers within their role permissions. Use-Case • Activity • DFD • Sequence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FR-9  AI QUERY ENGINE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Use Case Diagram — Chat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325880"/>
            <a:ext cx="5669280" cy="4617720"/>
          </a:xfrm>
          <a:prstGeom prst="rect">
            <a:avLst/>
          </a:prstGeom>
          <a:noFill/>
          <a:ln w="222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37160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Segoe UI"/>
              </a:rPr>
              <a:t>AI Chat Module</a:t>
            </a:r>
          </a:p>
        </p:txBody>
      </p:sp>
      <p:sp>
        <p:nvSpPr>
          <p:cNvPr id="8" name="Oval 7"/>
          <p:cNvSpPr/>
          <p:nvPr/>
        </p:nvSpPr>
        <p:spPr>
          <a:xfrm>
            <a:off x="1207008" y="2468880"/>
            <a:ext cx="329184" cy="329184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371600" y="2798064"/>
            <a:ext cx="0" cy="502920"/>
          </a:xfrm>
          <a:prstGeom prst="line">
            <a:avLst/>
          </a:prstGeom>
          <a:ln w="31750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78992" y="2935224"/>
            <a:ext cx="585216" cy="0"/>
          </a:xfrm>
          <a:prstGeom prst="line">
            <a:avLst/>
          </a:prstGeom>
          <a:ln w="31750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15568" y="3300984"/>
            <a:ext cx="256032" cy="365760"/>
          </a:xfrm>
          <a:prstGeom prst="line">
            <a:avLst/>
          </a:prstGeom>
          <a:ln w="31750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3300984"/>
            <a:ext cx="256032" cy="365760"/>
          </a:xfrm>
          <a:prstGeom prst="line">
            <a:avLst/>
          </a:prstGeom>
          <a:ln w="31750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3712464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Segoe UI"/>
              </a:rPr>
              <a:t>User
(any role)</a:t>
            </a:r>
          </a:p>
        </p:txBody>
      </p:sp>
      <p:sp>
        <p:nvSpPr>
          <p:cNvPr id="14" name="Oval 13"/>
          <p:cNvSpPr/>
          <p:nvPr/>
        </p:nvSpPr>
        <p:spPr>
          <a:xfrm>
            <a:off x="10533888" y="2468880"/>
            <a:ext cx="329184" cy="329184"/>
          </a:xfrm>
          <a:prstGeom prst="ellipse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698480" y="2798064"/>
            <a:ext cx="0" cy="502920"/>
          </a:xfrm>
          <a:prstGeom prst="line">
            <a:avLst/>
          </a:prstGeom>
          <a:ln w="31750">
            <a:solidFill>
              <a:srgbClr val="0E7C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405872" y="2935224"/>
            <a:ext cx="585216" cy="0"/>
          </a:xfrm>
          <a:prstGeom prst="line">
            <a:avLst/>
          </a:prstGeom>
          <a:ln w="31750">
            <a:solidFill>
              <a:srgbClr val="0E7C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0442448" y="3300984"/>
            <a:ext cx="256032" cy="365760"/>
          </a:xfrm>
          <a:prstGeom prst="line">
            <a:avLst/>
          </a:prstGeom>
          <a:ln w="31750">
            <a:solidFill>
              <a:srgbClr val="0E7C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698480" y="3300984"/>
            <a:ext cx="256032" cy="365760"/>
          </a:xfrm>
          <a:prstGeom prst="line">
            <a:avLst/>
          </a:prstGeom>
          <a:ln w="31750">
            <a:solidFill>
              <a:srgbClr val="0E7C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84080" y="3712464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E7C71"/>
                </a:solidFill>
                <a:latin typeface="Segoe UI"/>
              </a:rPr>
              <a:t>n8n AI
Agent</a:t>
            </a:r>
          </a:p>
        </p:txBody>
      </p:sp>
      <p:sp>
        <p:nvSpPr>
          <p:cNvPr id="20" name="Oval 19"/>
          <p:cNvSpPr/>
          <p:nvPr/>
        </p:nvSpPr>
        <p:spPr>
          <a:xfrm>
            <a:off x="4754880" y="1645920"/>
            <a:ext cx="2606040" cy="502920"/>
          </a:xfrm>
          <a:prstGeom prst="ellipse">
            <a:avLst/>
          </a:prstGeom>
          <a:solidFill>
            <a:srgbClr val="D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1">
                <a:solidFill>
                  <a:srgbClr val="0E7C71"/>
                </a:solidFill>
                <a:latin typeface="Segoe UI"/>
              </a:rPr>
              <a:t>Send Natural-Language Query</a:t>
            </a:r>
          </a:p>
        </p:txBody>
      </p:sp>
      <p:sp>
        <p:nvSpPr>
          <p:cNvPr id="21" name="Oval 20"/>
          <p:cNvSpPr/>
          <p:nvPr/>
        </p:nvSpPr>
        <p:spPr>
          <a:xfrm>
            <a:off x="4754880" y="2258568"/>
            <a:ext cx="2606040" cy="502920"/>
          </a:xfrm>
          <a:prstGeom prst="ellipse">
            <a:avLst/>
          </a:prstGeom>
          <a:solidFill>
            <a:srgbClr val="D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1">
                <a:solidFill>
                  <a:srgbClr val="0E7C71"/>
                </a:solidFill>
                <a:latin typeface="Segoe UI"/>
              </a:rPr>
              <a:t>Receive Role-Scoped Insight / Chart</a:t>
            </a:r>
          </a:p>
        </p:txBody>
      </p:sp>
      <p:sp>
        <p:nvSpPr>
          <p:cNvPr id="22" name="Oval 21"/>
          <p:cNvSpPr/>
          <p:nvPr/>
        </p:nvSpPr>
        <p:spPr>
          <a:xfrm>
            <a:off x="4754880" y="2871216"/>
            <a:ext cx="2606040" cy="502920"/>
          </a:xfrm>
          <a:prstGeom prst="ellipse">
            <a:avLst/>
          </a:prstGeom>
          <a:solidFill>
            <a:srgbClr val="D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1">
                <a:solidFill>
                  <a:srgbClr val="0E7C71"/>
                </a:solidFill>
                <a:latin typeface="Segoe UI"/>
              </a:rPr>
              <a:t>View Chat History</a:t>
            </a:r>
          </a:p>
        </p:txBody>
      </p:sp>
      <p:sp>
        <p:nvSpPr>
          <p:cNvPr id="23" name="Oval 22"/>
          <p:cNvSpPr/>
          <p:nvPr/>
        </p:nvSpPr>
        <p:spPr>
          <a:xfrm>
            <a:off x="4754880" y="3483864"/>
            <a:ext cx="2606040" cy="502920"/>
          </a:xfrm>
          <a:prstGeom prst="ellipse">
            <a:avLst/>
          </a:prstGeom>
          <a:solidFill>
            <a:srgbClr val="D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1">
                <a:solidFill>
                  <a:srgbClr val="0E7C71"/>
                </a:solidFill>
                <a:latin typeface="Segoe UI"/>
              </a:rPr>
              <a:t>Resume / Open Session</a:t>
            </a:r>
          </a:p>
        </p:txBody>
      </p:sp>
      <p:sp>
        <p:nvSpPr>
          <p:cNvPr id="24" name="Oval 23"/>
          <p:cNvSpPr/>
          <p:nvPr/>
        </p:nvSpPr>
        <p:spPr>
          <a:xfrm>
            <a:off x="4754880" y="4096512"/>
            <a:ext cx="2606040" cy="502920"/>
          </a:xfrm>
          <a:prstGeom prst="ellipse">
            <a:avLst/>
          </a:prstGeom>
          <a:solidFill>
            <a:srgbClr val="D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1">
                <a:solidFill>
                  <a:srgbClr val="0E7C71"/>
                </a:solidFill>
                <a:latin typeface="Segoe UI"/>
              </a:rPr>
              <a:t>Download Report / Attachment</a:t>
            </a:r>
          </a:p>
        </p:txBody>
      </p:sp>
      <p:sp>
        <p:nvSpPr>
          <p:cNvPr id="25" name="Oval 24"/>
          <p:cNvSpPr/>
          <p:nvPr/>
        </p:nvSpPr>
        <p:spPr>
          <a:xfrm>
            <a:off x="4754880" y="4709160"/>
            <a:ext cx="2606040" cy="502920"/>
          </a:xfrm>
          <a:prstGeom prst="ellipse">
            <a:avLst/>
          </a:prstGeom>
          <a:solidFill>
            <a:srgbClr val="D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1">
                <a:solidFill>
                  <a:srgbClr val="0E7C71"/>
                </a:solidFill>
                <a:latin typeface="Segoe UI"/>
              </a:rPr>
              <a:t>Authenticate (JWT)</a:t>
            </a:r>
          </a:p>
        </p:txBody>
      </p:sp>
      <p:sp>
        <p:nvSpPr>
          <p:cNvPr id="26" name="Oval 25"/>
          <p:cNvSpPr/>
          <p:nvPr/>
        </p:nvSpPr>
        <p:spPr>
          <a:xfrm>
            <a:off x="4754880" y="5321808"/>
            <a:ext cx="2606040" cy="502920"/>
          </a:xfrm>
          <a:prstGeom prst="ellipse">
            <a:avLst/>
          </a:prstGeom>
          <a:solidFill>
            <a:srgbClr val="D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1">
                <a:solidFill>
                  <a:srgbClr val="0E7C71"/>
                </a:solidFill>
                <a:latin typeface="Segoe UI"/>
              </a:rPr>
              <a:t>Enforce Role-Based Access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554480" y="1897380"/>
            <a:ext cx="3200400" cy="1211580"/>
          </a:xfrm>
          <a:prstGeom prst="line">
            <a:avLst/>
          </a:prstGeom>
          <a:ln w="15875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554480" y="3108960"/>
            <a:ext cx="3200400" cy="13716"/>
          </a:xfrm>
          <a:prstGeom prst="line">
            <a:avLst/>
          </a:prstGeom>
          <a:ln w="15875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54480" y="3108960"/>
            <a:ext cx="3200400" cy="626364"/>
          </a:xfrm>
          <a:prstGeom prst="line">
            <a:avLst/>
          </a:prstGeom>
          <a:ln w="15875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554480" y="3108960"/>
            <a:ext cx="3200400" cy="1239012"/>
          </a:xfrm>
          <a:prstGeom prst="line">
            <a:avLst/>
          </a:prstGeom>
          <a:ln w="15875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7360920" y="2510028"/>
            <a:ext cx="3337560" cy="598932"/>
          </a:xfrm>
          <a:prstGeom prst="line">
            <a:avLst/>
          </a:prstGeom>
          <a:ln w="15875">
            <a:solidFill>
              <a:srgbClr val="0E7C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360920" y="1897380"/>
            <a:ext cx="731520" cy="0"/>
          </a:xfrm>
          <a:prstGeom prst="line">
            <a:avLst/>
          </a:prstGeom>
          <a:ln w="13970">
            <a:solidFill>
              <a:srgbClr val="F2A9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92440" y="1897380"/>
            <a:ext cx="0" cy="3063240"/>
          </a:xfrm>
          <a:prstGeom prst="line">
            <a:avLst/>
          </a:prstGeom>
          <a:ln w="13970">
            <a:solidFill>
              <a:srgbClr val="F2A9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360920" y="4960620"/>
            <a:ext cx="731520" cy="0"/>
          </a:xfrm>
          <a:prstGeom prst="line">
            <a:avLst/>
          </a:prstGeom>
          <a:ln w="13970">
            <a:solidFill>
              <a:srgbClr val="F2A900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360920" y="1897380"/>
            <a:ext cx="1051560" cy="0"/>
          </a:xfrm>
          <a:prstGeom prst="line">
            <a:avLst/>
          </a:prstGeom>
          <a:ln w="13970">
            <a:solidFill>
              <a:srgbClr val="F2A9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12480" y="1897380"/>
            <a:ext cx="0" cy="3675888"/>
          </a:xfrm>
          <a:prstGeom prst="line">
            <a:avLst/>
          </a:prstGeom>
          <a:ln w="13970">
            <a:solidFill>
              <a:srgbClr val="F2A9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360920" y="5573268"/>
            <a:ext cx="1051560" cy="0"/>
          </a:xfrm>
          <a:prstGeom prst="line">
            <a:avLst/>
          </a:prstGeom>
          <a:ln w="13970">
            <a:solidFill>
              <a:srgbClr val="F2A900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635240" y="32461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2A900"/>
                </a:solidFill>
                <a:latin typeface="Segoe UI"/>
              </a:rPr>
              <a:t>«include»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080760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372"/>
                </a:solidFill>
                <a:latin typeface="Segoe UI"/>
              </a:rPr>
              <a:t>Description: Any authenticated User initiates queries and consumes role-scoped insights, history, sessions and downloads; the n8n AI Agent produces the answers. Every query «includes» JWT Authentication and Role-Based Access enforcement (dashed arrows).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QUERY LIFECYCLE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Activity Diagram — Chat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234440"/>
            <a:ext cx="1097280" cy="4114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468880" cy="54864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>
                <a:solidFill>
                  <a:srgbClr val="222833"/>
                </a:solidFill>
                <a:latin typeface="Segoe UI"/>
              </a:rPr>
              <a:t>User types message (frontend)</a:t>
            </a:r>
          </a:p>
        </p:txBody>
      </p:sp>
      <p:sp>
        <p:nvSpPr>
          <p:cNvPr id="8" name="Diamond 7"/>
          <p:cNvSpPr/>
          <p:nvPr/>
        </p:nvSpPr>
        <p:spPr>
          <a:xfrm>
            <a:off x="1234440" y="2514600"/>
            <a:ext cx="1463040" cy="822960"/>
          </a:xfrm>
          <a:prstGeom prst="diamond">
            <a:avLst/>
          </a:prstGeom>
          <a:solidFill>
            <a:srgbClr val="FDF0D6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8A5D00"/>
                </a:solidFill>
                <a:latin typeface="Segoe UI"/>
              </a:rPr>
              <a:t>Valid?
(empty / length)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68880" cy="54864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>
                <a:solidFill>
                  <a:srgbClr val="222833"/>
                </a:solidFill>
                <a:latin typeface="Segoe UI"/>
              </a:rPr>
              <a:t>Authenticate JWT + rate-limit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2468880" cy="54864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>
                <a:solidFill>
                  <a:srgbClr val="222833"/>
                </a:solidFill>
                <a:latin typeface="Segoe UI"/>
              </a:rPr>
              <a:t>Ensure ChatSession (role scope)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00600"/>
            <a:ext cx="2468880" cy="54864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>
                <a:solidFill>
                  <a:srgbClr val="222833"/>
                </a:solidFill>
                <a:latin typeface="Segoe UI"/>
              </a:rPr>
              <a:t>Persist user message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1645920"/>
            <a:ext cx="0" cy="137160"/>
          </a:xfrm>
          <a:prstGeom prst="line">
            <a:avLst/>
          </a:prstGeom>
          <a:ln w="1778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65960" y="2331720"/>
            <a:ext cx="0" cy="182880"/>
          </a:xfrm>
          <a:prstGeom prst="line">
            <a:avLst/>
          </a:prstGeom>
          <a:ln w="1778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65960" y="3337560"/>
            <a:ext cx="0" cy="182880"/>
          </a:xfrm>
          <a:prstGeom prst="line">
            <a:avLst/>
          </a:prstGeom>
          <a:ln w="1778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11680" y="3291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E7C71"/>
                </a:solidFill>
                <a:latin typeface="Segoe UI"/>
              </a:rPr>
              <a:t>Yes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65960" y="4069080"/>
            <a:ext cx="0" cy="91440"/>
          </a:xfrm>
          <a:prstGeom prst="line">
            <a:avLst/>
          </a:prstGeom>
          <a:ln w="1778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965960" y="4709160"/>
            <a:ext cx="0" cy="91440"/>
          </a:xfrm>
          <a:prstGeom prst="line">
            <a:avLst/>
          </a:prstGeom>
          <a:ln w="1778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91840" y="2606040"/>
            <a:ext cx="914400" cy="640080"/>
          </a:xfrm>
          <a:prstGeom prst="roundRect">
            <a:avLst/>
          </a:prstGeom>
          <a:solidFill>
            <a:srgbClr val="FDF0D6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8A5D00"/>
                </a:solidFill>
                <a:latin typeface="Segoe UI"/>
              </a:rPr>
              <a:t>Return 400
&amp; End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80" y="2926080"/>
            <a:ext cx="594360" cy="0"/>
          </a:xfrm>
          <a:prstGeom prst="line">
            <a:avLst/>
          </a:prstGeom>
          <a:ln w="17780">
            <a:solidFill>
              <a:srgbClr val="F2A9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15768" y="2670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2A900"/>
                </a:solidFill>
                <a:latin typeface="Segoe UI"/>
              </a:rPr>
              <a:t>No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00400" y="5074920"/>
            <a:ext cx="1143000" cy="0"/>
          </a:xfrm>
          <a:prstGeom prst="line">
            <a:avLst/>
          </a:prstGeom>
          <a:ln w="17780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343400" y="1760220"/>
            <a:ext cx="0" cy="3314700"/>
          </a:xfrm>
          <a:prstGeom prst="line">
            <a:avLst/>
          </a:prstGeom>
          <a:ln w="17780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343400" y="1760220"/>
            <a:ext cx="731520" cy="0"/>
          </a:xfrm>
          <a:prstGeom prst="line">
            <a:avLst/>
          </a:prstGeom>
          <a:ln w="1778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5074920" y="1325880"/>
            <a:ext cx="1463040" cy="868680"/>
          </a:xfrm>
          <a:prstGeom prst="diamond">
            <a:avLst/>
          </a:prstGeom>
          <a:solidFill>
            <a:srgbClr val="FDF0D6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8A5D00"/>
                </a:solidFill>
                <a:latin typeface="Segoe UI"/>
              </a:rPr>
              <a:t>Cache hit?
(Redis / mem)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2377440"/>
            <a:ext cx="2468880" cy="54864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>
                <a:solidFill>
                  <a:srgbClr val="222833"/>
                </a:solidFill>
                <a:latin typeface="Segoe UI"/>
              </a:rPr>
              <a:t>Enqueue job (Bull) → worker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017520"/>
            <a:ext cx="2468880" cy="54864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>
                <a:solidFill>
                  <a:srgbClr val="222833"/>
                </a:solidFill>
                <a:latin typeface="Segoe UI"/>
              </a:rPr>
              <a:t>POST payload to n8n AI 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657600"/>
            <a:ext cx="2468880" cy="54864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>
                <a:solidFill>
                  <a:srgbClr val="222833"/>
                </a:solidFill>
                <a:latin typeface="Segoe UI"/>
              </a:rPr>
              <a:t>Agent: role scope + query DB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297680"/>
            <a:ext cx="2468880" cy="54864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>
                <a:solidFill>
                  <a:srgbClr val="222833"/>
                </a:solidFill>
                <a:latin typeface="Segoe UI"/>
              </a:rPr>
              <a:t>Agent returns reply / data / files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06440" y="2194560"/>
            <a:ext cx="0" cy="182880"/>
          </a:xfrm>
          <a:prstGeom prst="line">
            <a:avLst/>
          </a:prstGeom>
          <a:ln w="1778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52160" y="21762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2A900"/>
                </a:solidFill>
                <a:latin typeface="Segoe UI"/>
              </a:rPr>
              <a:t>No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06440" y="2926080"/>
            <a:ext cx="0" cy="91440"/>
          </a:xfrm>
          <a:prstGeom prst="line">
            <a:avLst/>
          </a:prstGeom>
          <a:ln w="1778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806440" y="3566160"/>
            <a:ext cx="0" cy="91440"/>
          </a:xfrm>
          <a:prstGeom prst="line">
            <a:avLst/>
          </a:prstGeom>
          <a:ln w="1778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06440" y="4206240"/>
            <a:ext cx="0" cy="91440"/>
          </a:xfrm>
          <a:prstGeom prst="line">
            <a:avLst/>
          </a:prstGeom>
          <a:ln w="1778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595360" y="2377440"/>
            <a:ext cx="2468880" cy="54864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>
                <a:solidFill>
                  <a:srgbClr val="222833"/>
                </a:solidFill>
                <a:latin typeface="Segoe UI"/>
              </a:rPr>
              <a:t>Persist agent message + files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95360" y="3017520"/>
            <a:ext cx="2468880" cy="54864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>
                <a:solidFill>
                  <a:srgbClr val="222833"/>
                </a:solidFill>
                <a:latin typeface="Segoe UI"/>
              </a:rPr>
              <a:t>Update session (preview, time)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95360" y="3657600"/>
            <a:ext cx="2468880" cy="54864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>
                <a:solidFill>
                  <a:srgbClr val="222833"/>
                </a:solidFill>
                <a:latin typeface="Segoe UI"/>
              </a:rPr>
              <a:t>Cache response (TTL)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4297680"/>
            <a:ext cx="2468880" cy="548640"/>
          </a:xfrm>
          <a:prstGeom prst="roundRect">
            <a:avLst/>
          </a:prstGeom>
          <a:solidFill>
            <a:srgbClr val="E7EEF7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>
                <a:solidFill>
                  <a:srgbClr val="222833"/>
                </a:solidFill>
                <a:latin typeface="Segoe UI"/>
              </a:rPr>
              <a:t>Return answer to user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81160" y="5029200"/>
            <a:ext cx="1097280" cy="4114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End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829800" y="2926080"/>
            <a:ext cx="0" cy="91440"/>
          </a:xfrm>
          <a:prstGeom prst="line">
            <a:avLst/>
          </a:prstGeom>
          <a:ln w="1778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829800" y="3566160"/>
            <a:ext cx="0" cy="91440"/>
          </a:xfrm>
          <a:prstGeom prst="line">
            <a:avLst/>
          </a:prstGeom>
          <a:ln w="1778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829800" y="4206240"/>
            <a:ext cx="0" cy="91440"/>
          </a:xfrm>
          <a:prstGeom prst="line">
            <a:avLst/>
          </a:prstGeom>
          <a:ln w="1778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829800" y="4846320"/>
            <a:ext cx="0" cy="182880"/>
          </a:xfrm>
          <a:prstGeom prst="line">
            <a:avLst/>
          </a:prstGeom>
          <a:ln w="1778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040880" y="4572000"/>
            <a:ext cx="1097280" cy="0"/>
          </a:xfrm>
          <a:prstGeom prst="line">
            <a:avLst/>
          </a:prstGeom>
          <a:ln w="17780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138160" y="2743200"/>
            <a:ext cx="0" cy="1828800"/>
          </a:xfrm>
          <a:prstGeom prst="line">
            <a:avLst/>
          </a:prstGeom>
          <a:ln w="17780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138160" y="2743200"/>
            <a:ext cx="457200" cy="0"/>
          </a:xfrm>
          <a:prstGeom prst="line">
            <a:avLst/>
          </a:prstGeom>
          <a:ln w="1778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537960" y="1760220"/>
            <a:ext cx="1234440" cy="0"/>
          </a:xfrm>
          <a:prstGeom prst="line">
            <a:avLst/>
          </a:prstGeom>
          <a:ln w="17780">
            <a:solidFill>
              <a:srgbClr val="0E7C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72400" y="1760220"/>
            <a:ext cx="0" cy="781812"/>
          </a:xfrm>
          <a:prstGeom prst="line">
            <a:avLst/>
          </a:prstGeom>
          <a:ln w="17780">
            <a:solidFill>
              <a:srgbClr val="0E7C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772400" y="2542032"/>
            <a:ext cx="822960" cy="0"/>
          </a:xfrm>
          <a:prstGeom prst="line">
            <a:avLst/>
          </a:prstGeom>
          <a:ln w="17780">
            <a:solidFill>
              <a:srgbClr val="0E7C7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903720" y="1078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E7C71"/>
                </a:solidFill>
                <a:latin typeface="Segoe UI"/>
              </a:rPr>
              <a:t>Yes (cached)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DFD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Data Flow Diagram — Chat Module (Level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1828800" cy="10058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User
(External Entity)</a:t>
            </a:r>
          </a:p>
        </p:txBody>
      </p:sp>
      <p:sp>
        <p:nvSpPr>
          <p:cNvPr id="7" name="Oval 6"/>
          <p:cNvSpPr/>
          <p:nvPr/>
        </p:nvSpPr>
        <p:spPr>
          <a:xfrm>
            <a:off x="3291840" y="2697480"/>
            <a:ext cx="2194560" cy="1097280"/>
          </a:xfrm>
          <a:prstGeom prst="ellipse">
            <a:avLst/>
          </a:prstGeom>
          <a:solidFill>
            <a:srgbClr val="D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0E7C71"/>
                </a:solidFill>
                <a:latin typeface="Segoe UI"/>
              </a:rPr>
              <a:t>1.0
Chat API
(Express)</a:t>
            </a:r>
          </a:p>
        </p:txBody>
      </p:sp>
      <p:sp>
        <p:nvSpPr>
          <p:cNvPr id="8" name="Oval 7"/>
          <p:cNvSpPr/>
          <p:nvPr/>
        </p:nvSpPr>
        <p:spPr>
          <a:xfrm>
            <a:off x="6675120" y="2697480"/>
            <a:ext cx="2194560" cy="1097280"/>
          </a:xfrm>
          <a:prstGeom prst="ellipse">
            <a:avLst/>
          </a:prstGeom>
          <a:solidFill>
            <a:srgbClr val="D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50" b="1">
                <a:solidFill>
                  <a:srgbClr val="0E7C71"/>
                </a:solidFill>
                <a:latin typeface="Segoe UI"/>
              </a:rPr>
              <a:t>2.0
n8n AI Agent
(query + RBAC)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097280"/>
            <a:ext cx="2468880" cy="502920"/>
          </a:xfrm>
          <a:prstGeom prst="rect">
            <a:avLst/>
          </a:prstGeom>
          <a:solidFill>
            <a:srgbClr val="E7EEF7"/>
          </a:solidFill>
          <a:ln w="127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F2A44"/>
                </a:solidFill>
                <a:latin typeface="Segoe UI"/>
              </a:rPr>
              <a:t>D1  ChatSession / ChatMessage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4572000"/>
            <a:ext cx="2468880" cy="502920"/>
          </a:xfrm>
          <a:prstGeom prst="rect">
            <a:avLst/>
          </a:prstGeom>
          <a:solidFill>
            <a:srgbClr val="E7EEF7"/>
          </a:solidFill>
          <a:ln w="127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F2A44"/>
                </a:solidFill>
                <a:latin typeface="Segoe UI"/>
              </a:rPr>
              <a:t>D2  ChatFile (attachments)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5212080"/>
            <a:ext cx="2468880" cy="502920"/>
          </a:xfrm>
          <a:prstGeom prst="rect">
            <a:avLst/>
          </a:prstGeom>
          <a:solidFill>
            <a:srgbClr val="E7EEF7"/>
          </a:solidFill>
          <a:ln w="127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F2A44"/>
                </a:solidFill>
                <a:latin typeface="Segoe UI"/>
              </a:rPr>
              <a:t>D3  Cache (Redis / memory)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371600"/>
            <a:ext cx="2468880" cy="502920"/>
          </a:xfrm>
          <a:prstGeom prst="rect">
            <a:avLst/>
          </a:prstGeom>
          <a:solidFill>
            <a:srgbClr val="E7EEF7"/>
          </a:solidFill>
          <a:ln w="127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F2A44"/>
                </a:solidFill>
                <a:latin typeface="Segoe UI"/>
              </a:rPr>
              <a:t>D4  Institution DB
(~60 collections)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3108960"/>
            <a:ext cx="914400" cy="0"/>
          </a:xfrm>
          <a:prstGeom prst="line">
            <a:avLst/>
          </a:prstGeom>
          <a:ln w="1905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331720" y="2788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F2A44"/>
                </a:solidFill>
                <a:latin typeface="Segoe UI"/>
              </a:rPr>
              <a:t>NL query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377440" y="3429000"/>
            <a:ext cx="914400" cy="0"/>
          </a:xfrm>
          <a:prstGeom prst="line">
            <a:avLst/>
          </a:prstGeom>
          <a:ln w="19050">
            <a:solidFill>
              <a:srgbClr val="0E7C7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31720" y="34564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E7C71"/>
                </a:solidFill>
                <a:latin typeface="Segoe UI"/>
              </a:rPr>
              <a:t>insight/report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0" y="3108960"/>
            <a:ext cx="1188720" cy="0"/>
          </a:xfrm>
          <a:prstGeom prst="line">
            <a:avLst/>
          </a:prstGeom>
          <a:ln w="1905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32120" y="27889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F2A44"/>
                </a:solidFill>
                <a:latin typeface="Segoe UI"/>
              </a:rPr>
              <a:t>payload + role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486400" y="3429000"/>
            <a:ext cx="1188720" cy="0"/>
          </a:xfrm>
          <a:prstGeom prst="line">
            <a:avLst/>
          </a:prstGeom>
          <a:ln w="19050">
            <a:solidFill>
              <a:srgbClr val="0E7C7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32120" y="34564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E7C71"/>
                </a:solidFill>
                <a:latin typeface="Segoe UI"/>
              </a:rPr>
              <a:t>reply/data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389120" y="1600200"/>
            <a:ext cx="0" cy="1097280"/>
          </a:xfrm>
          <a:prstGeom prst="line">
            <a:avLst/>
          </a:prstGeom>
          <a:ln w="19050">
            <a:solidFill>
              <a:srgbClr val="5A6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8056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372"/>
                </a:solidFill>
                <a:latin typeface="Segoe UI"/>
              </a:rPr>
              <a:t>persist msgs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89120" y="3794760"/>
            <a:ext cx="0" cy="777240"/>
          </a:xfrm>
          <a:prstGeom prst="line">
            <a:avLst/>
          </a:prstGeom>
          <a:ln w="19050">
            <a:solidFill>
              <a:srgbClr val="5A6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80560" y="4114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372"/>
                </a:solidFill>
                <a:latin typeface="Segoe UI"/>
              </a:rPr>
              <a:t>store files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37760" y="3794760"/>
            <a:ext cx="0" cy="1417320"/>
          </a:xfrm>
          <a:prstGeom prst="line">
            <a:avLst/>
          </a:prstGeom>
          <a:ln w="19050">
            <a:solidFill>
              <a:srgbClr val="5A6372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0" y="45262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372"/>
                </a:solidFill>
                <a:latin typeface="Segoe UI"/>
              </a:rPr>
              <a:t>get/set cache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8869680" y="1874519"/>
            <a:ext cx="1554480" cy="960121"/>
          </a:xfrm>
          <a:prstGeom prst="line">
            <a:avLst/>
          </a:prstGeom>
          <a:ln w="19050">
            <a:solidFill>
              <a:srgbClr val="5A6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052560" y="2194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372"/>
                </a:solidFill>
                <a:latin typeface="Segoe UI"/>
              </a:rPr>
              <a:t>role-scoped read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372"/>
                </a:solidFill>
                <a:latin typeface="Segoe UI"/>
              </a:rPr>
              <a:t>The User submits a natural-language query to the Chat API, which authenticates, persists the message and (on a cache miss) forwards a role-scoped payload to the n8n AI Agent. The agent reads the Institution DB within permissions and returns insight; responses are persisted, cached and delivered back to the user.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RUNTIME FLOW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Sequence Diagram — Chat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1554480" cy="5486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User /
Frontend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1828800"/>
            <a:ext cx="0" cy="4297680"/>
          </a:xfrm>
          <a:prstGeom prst="line">
            <a:avLst/>
          </a:prstGeom>
          <a:ln w="12700">
            <a:solidFill>
              <a:srgbClr val="B8C0C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94560" y="1280160"/>
            <a:ext cx="1554480" cy="5486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Chat API
(Express)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1828800"/>
            <a:ext cx="0" cy="4297680"/>
          </a:xfrm>
          <a:prstGeom prst="line">
            <a:avLst/>
          </a:prstGeom>
          <a:ln w="12700">
            <a:solidFill>
              <a:srgbClr val="B8C0C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931920" y="1280160"/>
            <a:ext cx="1554480" cy="5486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Auth +
Rate Limit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9160" y="1828800"/>
            <a:ext cx="0" cy="4297680"/>
          </a:xfrm>
          <a:prstGeom prst="line">
            <a:avLst/>
          </a:prstGeom>
          <a:ln w="12700">
            <a:solidFill>
              <a:srgbClr val="B8C0C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77840" y="1280160"/>
            <a:ext cx="1554480" cy="5486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Cache
(Redis)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55080" y="1828800"/>
            <a:ext cx="0" cy="4297680"/>
          </a:xfrm>
          <a:prstGeom prst="line">
            <a:avLst/>
          </a:prstGeom>
          <a:ln w="12700">
            <a:solidFill>
              <a:srgbClr val="B8C0C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040880" y="1280160"/>
            <a:ext cx="1554480" cy="5486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Queue
(Bull)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8120" y="1828800"/>
            <a:ext cx="0" cy="4297680"/>
          </a:xfrm>
          <a:prstGeom prst="line">
            <a:avLst/>
          </a:prstGeom>
          <a:ln w="12700">
            <a:solidFill>
              <a:srgbClr val="B8C0C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41080" y="1280160"/>
            <a:ext cx="1554480" cy="5486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n8n AI
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18320" y="1828800"/>
            <a:ext cx="0" cy="4297680"/>
          </a:xfrm>
          <a:prstGeom prst="line">
            <a:avLst/>
          </a:prstGeom>
          <a:ln w="12700">
            <a:solidFill>
              <a:srgbClr val="B8C0C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378440" y="1280160"/>
            <a:ext cx="1554480" cy="5486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MongoDB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155680" y="1828800"/>
            <a:ext cx="0" cy="4297680"/>
          </a:xfrm>
          <a:prstGeom prst="line">
            <a:avLst/>
          </a:prstGeom>
          <a:ln w="12700">
            <a:solidFill>
              <a:srgbClr val="B8C0C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51560" y="2057400"/>
            <a:ext cx="1920240" cy="0"/>
          </a:xfrm>
          <a:prstGeom prst="line">
            <a:avLst/>
          </a:prstGeom>
          <a:ln w="1905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7280" y="1801368"/>
            <a:ext cx="2011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POST /api/chat {message}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71800" y="2468880"/>
            <a:ext cx="1737360" cy="0"/>
          </a:xfrm>
          <a:prstGeom prst="line">
            <a:avLst/>
          </a:prstGeom>
          <a:ln w="1905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17520" y="2212848"/>
            <a:ext cx="18288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verify JWT + rate-limit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971800" y="2880360"/>
            <a:ext cx="1737360" cy="0"/>
          </a:xfrm>
          <a:prstGeom prst="line">
            <a:avLst/>
          </a:prstGeom>
          <a:ln w="19050">
            <a:solidFill>
              <a:srgbClr val="0E7C71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17520" y="2624328"/>
            <a:ext cx="2011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5A6372"/>
                </a:solidFill>
                <a:latin typeface="Segoe UI"/>
              </a:rPr>
              <a:t>user / role OK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71800" y="3291840"/>
            <a:ext cx="8183880" cy="0"/>
          </a:xfrm>
          <a:prstGeom prst="line">
            <a:avLst/>
          </a:prstGeom>
          <a:ln w="1905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17520" y="3035808"/>
            <a:ext cx="82753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ensure session + save user msg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71800" y="3703320"/>
            <a:ext cx="3383280" cy="0"/>
          </a:xfrm>
          <a:prstGeom prst="line">
            <a:avLst/>
          </a:prstGeom>
          <a:ln w="1905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17520" y="3447288"/>
            <a:ext cx="34747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lookup cached answer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2971800" y="4114800"/>
            <a:ext cx="3383280" cy="0"/>
          </a:xfrm>
          <a:prstGeom prst="line">
            <a:avLst/>
          </a:prstGeom>
          <a:ln w="19050">
            <a:solidFill>
              <a:srgbClr val="F2A900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17520" y="3858768"/>
            <a:ext cx="2011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5A6372"/>
                </a:solidFill>
                <a:latin typeface="Segoe UI"/>
              </a:rPr>
              <a:t>miss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971800" y="4526280"/>
            <a:ext cx="4846320" cy="0"/>
          </a:xfrm>
          <a:prstGeom prst="line">
            <a:avLst/>
          </a:prstGeom>
          <a:ln w="1905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017520" y="4270248"/>
            <a:ext cx="49377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enqueue chat job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818120" y="4937760"/>
            <a:ext cx="1600200" cy="0"/>
          </a:xfrm>
          <a:prstGeom prst="line">
            <a:avLst/>
          </a:prstGeom>
          <a:ln w="1905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863840" y="4681728"/>
            <a:ext cx="16916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POST role-scoped payload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418320" y="5349240"/>
            <a:ext cx="1737360" cy="0"/>
          </a:xfrm>
          <a:prstGeom prst="line">
            <a:avLst/>
          </a:prstGeom>
          <a:ln w="1905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464040" y="5093208"/>
            <a:ext cx="18288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role-scoped query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9418320" y="5760720"/>
            <a:ext cx="1737360" cy="0"/>
          </a:xfrm>
          <a:prstGeom prst="line">
            <a:avLst/>
          </a:prstGeom>
          <a:ln w="19050">
            <a:solidFill>
              <a:srgbClr val="0E7C71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464040" y="5504688"/>
            <a:ext cx="2011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5A6372"/>
                </a:solidFill>
                <a:latin typeface="Segoe UI"/>
              </a:rPr>
              <a:t>rows / aggregates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2971800" y="6172200"/>
            <a:ext cx="6446520" cy="0"/>
          </a:xfrm>
          <a:prstGeom prst="line">
            <a:avLst/>
          </a:prstGeom>
          <a:ln w="19050">
            <a:solidFill>
              <a:srgbClr val="0E7C71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017520" y="5916168"/>
            <a:ext cx="2011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5A6372"/>
                </a:solidFill>
                <a:latin typeface="Segoe UI"/>
              </a:rPr>
              <a:t>reply + data + files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971800" y="6583680"/>
            <a:ext cx="8183880" cy="0"/>
          </a:xfrm>
          <a:prstGeom prst="line">
            <a:avLst/>
          </a:prstGeom>
          <a:ln w="19050">
            <a:solidFill>
              <a:srgbClr val="1F2A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017520" y="6327648"/>
            <a:ext cx="82753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1F2A44"/>
                </a:solidFill>
                <a:latin typeface="Segoe UI"/>
              </a:rPr>
              <a:t>persist agent msg + cache set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1051560" y="6995160"/>
            <a:ext cx="1920240" cy="0"/>
          </a:xfrm>
          <a:prstGeom prst="line">
            <a:avLst/>
          </a:prstGeom>
          <a:ln w="19050">
            <a:solidFill>
              <a:srgbClr val="0E7C71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97280" y="6739128"/>
            <a:ext cx="2011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5A6372"/>
                </a:solidFill>
                <a:latin typeface="Segoe UI"/>
              </a:rPr>
              <a:t>200 {reply, data, sources}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MongoDB — Mongoose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833"/>
                </a:solidFill>
                <a:latin typeface="Segoe UI"/>
              </a:rPr>
              <a:t>MongoDB document store with ~60 Mongoose collections. Below: the core entities and the Chat-module schema (referenced relationships shown).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2514600" cy="384048"/>
          </a:xfrm>
          <a:prstGeom prst="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67128"/>
            <a:ext cx="2514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45720" tIns="36576" bIns="27432"/>
          <a:lstStyle/>
          <a:p>
            <a:pPr algn="ctr"/>
            <a:r>
              <a:rPr sz="1000" b="0">
                <a:solidFill>
                  <a:srgbClr val="222833"/>
                </a:solidFill>
                <a:latin typeface="Segoe UI"/>
              </a:rPr>
              <a:t/>
            </a:r>
            <a:r>
              <a:rPr sz="950" b="1">
                <a:solidFill>
                  <a:srgbClr val="0E7C71"/>
                </a:solidFill>
                <a:latin typeface="Consolas"/>
              </a:rPr>
              <a:t>PK _id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name, email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passwordHash</a:t>
            </a:r>
          </a:p>
          <a:p>
            <a:r>
              <a:rPr sz="950" b="1">
                <a:solidFill>
                  <a:srgbClr val="0E7C71"/>
                </a:solidFill>
                <a:latin typeface="Consolas"/>
              </a:rPr>
              <a:t>FK role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783080"/>
            <a:ext cx="2514600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Role / Permission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167128"/>
            <a:ext cx="25146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45720" tIns="36576" bIns="27432"/>
          <a:lstStyle/>
          <a:p>
            <a:pPr algn="ctr"/>
            <a:r>
              <a:rPr sz="1000" b="0">
                <a:solidFill>
                  <a:srgbClr val="222833"/>
                </a:solidFill>
                <a:latin typeface="Segoe UI"/>
              </a:rPr>
              <a:t/>
            </a:r>
            <a:r>
              <a:rPr sz="950" b="1">
                <a:solidFill>
                  <a:srgbClr val="0E7C71"/>
                </a:solidFill>
                <a:latin typeface="Consolas"/>
              </a:rPr>
              <a:t>PK _id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name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permissions[]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scopes[]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783080"/>
            <a:ext cx="2514600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Student / Parent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167128"/>
            <a:ext cx="25146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45720" tIns="36576" bIns="27432"/>
          <a:lstStyle/>
          <a:p>
            <a:pPr algn="ctr"/>
            <a:r>
              <a:rPr sz="1000" b="0">
                <a:solidFill>
                  <a:srgbClr val="222833"/>
                </a:solidFill>
                <a:latin typeface="Segoe UI"/>
              </a:rPr>
              <a:t/>
            </a:r>
            <a:r>
              <a:rPr sz="950" b="1">
                <a:solidFill>
                  <a:srgbClr val="0E7C71"/>
                </a:solidFill>
                <a:latin typeface="Consolas"/>
              </a:rPr>
              <a:t>PK _id</a:t>
            </a:r>
          </a:p>
          <a:p>
            <a:r>
              <a:rPr sz="950" b="1">
                <a:solidFill>
                  <a:srgbClr val="0E7C71"/>
                </a:solidFill>
                <a:latin typeface="Consolas"/>
              </a:rPr>
              <a:t>FK user</a:t>
            </a:r>
          </a:p>
          <a:p>
            <a:r>
              <a:rPr sz="950" b="1">
                <a:solidFill>
                  <a:srgbClr val="0E7C71"/>
                </a:solidFill>
                <a:latin typeface="Consolas"/>
              </a:rPr>
              <a:t>FK class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guardianInfo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32520" y="1783080"/>
            <a:ext cx="2514600" cy="38404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Domain Collections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2167128"/>
            <a:ext cx="2514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45720" tIns="36576" bIns="27432"/>
          <a:lstStyle/>
          <a:p>
            <a:pPr algn="ctr"/>
            <a:r>
              <a:rPr sz="1000" b="0">
                <a:solidFill>
                  <a:srgbClr val="222833"/>
                </a:solidFill>
                <a:latin typeface="Segoe UI"/>
              </a:rPr>
              <a:t/>
            </a:r>
            <a:r>
              <a:rPr sz="950">
                <a:solidFill>
                  <a:srgbClr val="222833"/>
                </a:solidFill>
                <a:latin typeface="Consolas"/>
              </a:rPr>
              <a:t>Attendance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Exam / ReportCard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Fee / Transport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Timetable, Homework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Complaint, Notification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977639"/>
            <a:ext cx="2514600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ChatSession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61687"/>
            <a:ext cx="251460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45720" tIns="36576" bIns="27432"/>
          <a:lstStyle/>
          <a:p>
            <a:pPr algn="ctr"/>
            <a:r>
              <a:rPr sz="1000" b="0">
                <a:solidFill>
                  <a:srgbClr val="222833"/>
                </a:solidFill>
                <a:latin typeface="Segoe UI"/>
              </a:rPr>
              <a:t/>
            </a:r>
            <a:r>
              <a:rPr sz="950" b="1">
                <a:solidFill>
                  <a:srgbClr val="0E7C71"/>
                </a:solidFill>
                <a:latin typeface="Consolas"/>
              </a:rPr>
              <a:t>PK _id</a:t>
            </a:r>
          </a:p>
          <a:p>
            <a:r>
              <a:rPr sz="950" b="1">
                <a:solidFill>
                  <a:srgbClr val="0E7C71"/>
                </a:solidFill>
                <a:latin typeface="Consolas"/>
              </a:rPr>
              <a:t>FK user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sessionKey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roleAtCreation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allowedScopes[]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status, lastMessageAt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977639"/>
            <a:ext cx="2514600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ChatMessage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361687"/>
            <a:ext cx="251460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45720" tIns="36576" bIns="27432"/>
          <a:lstStyle/>
          <a:p>
            <a:pPr algn="ctr"/>
            <a:r>
              <a:rPr sz="1000" b="0">
                <a:solidFill>
                  <a:srgbClr val="222833"/>
                </a:solidFill>
                <a:latin typeface="Segoe UI"/>
              </a:rPr>
              <a:t/>
            </a:r>
            <a:r>
              <a:rPr sz="950" b="1">
                <a:solidFill>
                  <a:srgbClr val="0E7C71"/>
                </a:solidFill>
                <a:latin typeface="Consolas"/>
              </a:rPr>
              <a:t>PK _id</a:t>
            </a:r>
          </a:p>
          <a:p>
            <a:r>
              <a:rPr sz="950" b="1">
                <a:solidFill>
                  <a:srgbClr val="0E7C71"/>
                </a:solidFill>
                <a:latin typeface="Consolas"/>
              </a:rPr>
              <a:t>FK session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senderType</a:t>
            </a:r>
          </a:p>
          <a:p>
            <a:r>
              <a:rPr sz="950" b="1">
                <a:solidFill>
                  <a:srgbClr val="0E7C71"/>
                </a:solidFill>
                <a:latin typeface="Consolas"/>
              </a:rPr>
              <a:t>FK senderUser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text, data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actions[], sources[]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3977639"/>
            <a:ext cx="2514600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ChatFile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4361687"/>
            <a:ext cx="251460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45720" tIns="36576" bIns="27432"/>
          <a:lstStyle/>
          <a:p>
            <a:pPr algn="ctr"/>
            <a:r>
              <a:rPr sz="1000" b="0">
                <a:solidFill>
                  <a:srgbClr val="222833"/>
                </a:solidFill>
                <a:latin typeface="Segoe UI"/>
              </a:rPr>
              <a:t/>
            </a:r>
            <a:r>
              <a:rPr sz="950" b="1">
                <a:solidFill>
                  <a:srgbClr val="0E7C71"/>
                </a:solidFill>
                <a:latin typeface="Consolas"/>
              </a:rPr>
              <a:t>PK _id</a:t>
            </a:r>
          </a:p>
          <a:p>
            <a:r>
              <a:rPr sz="950" b="1">
                <a:solidFill>
                  <a:srgbClr val="0E7C71"/>
                </a:solidFill>
                <a:latin typeface="Consolas"/>
              </a:rPr>
              <a:t>FK session</a:t>
            </a:r>
          </a:p>
          <a:p>
            <a:r>
              <a:rPr sz="950" b="1">
                <a:solidFill>
                  <a:srgbClr val="0E7C71"/>
                </a:solidFill>
                <a:latin typeface="Consolas"/>
              </a:rPr>
              <a:t>FK owner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filename, mimeType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data (Buffer)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expiresAt (TTL)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3977639"/>
            <a:ext cx="2514600" cy="384048"/>
          </a:xfrm>
          <a:prstGeom prst="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Message / Delivery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4361687"/>
            <a:ext cx="2514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45720" tIns="36576" bIns="27432"/>
          <a:lstStyle/>
          <a:p>
            <a:pPr algn="ctr"/>
            <a:r>
              <a:rPr sz="1000" b="0">
                <a:solidFill>
                  <a:srgbClr val="222833"/>
                </a:solidFill>
                <a:latin typeface="Segoe UI"/>
              </a:rPr>
              <a:t/>
            </a:r>
            <a:r>
              <a:rPr sz="950" b="1">
                <a:solidFill>
                  <a:srgbClr val="0E7C71"/>
                </a:solidFill>
                <a:latin typeface="Consolas"/>
              </a:rPr>
              <a:t>PK _id</a:t>
            </a:r>
          </a:p>
          <a:p>
            <a:r>
              <a:rPr sz="950" b="1">
                <a:solidFill>
                  <a:srgbClr val="0E7C71"/>
                </a:solidFill>
                <a:latin typeface="Consolas"/>
              </a:rPr>
              <a:t>FK sender, recipient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text, attachments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status (sent/</a:t>
            </a:r>
          </a:p>
          <a:p>
            <a:r>
              <a:rPr sz="950">
                <a:solidFill>
                  <a:srgbClr val="222833"/>
                </a:solidFill>
                <a:latin typeface="Consolas"/>
              </a:rPr>
              <a:t>  delivered/read)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37360" y="2194560"/>
            <a:ext cx="1508760" cy="0"/>
          </a:xfrm>
          <a:prstGeom prst="line">
            <a:avLst/>
          </a:prstGeom>
          <a:ln w="19050">
            <a:solidFill>
              <a:srgbClr val="5A6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8800" y="1920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A6372"/>
                </a:solidFill>
                <a:latin typeface="Segoe UI"/>
              </a:rPr>
              <a:t>has role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71600" y="3200400"/>
            <a:ext cx="0" cy="777239"/>
          </a:xfrm>
          <a:prstGeom prst="line">
            <a:avLst/>
          </a:prstGeom>
          <a:ln w="19050">
            <a:solidFill>
              <a:srgbClr val="5A6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1732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A6372"/>
                </a:solidFill>
                <a:latin typeface="Segoe UI"/>
              </a:rPr>
              <a:t>owns sessions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017520" y="4754880"/>
            <a:ext cx="640080" cy="0"/>
          </a:xfrm>
          <a:prstGeom prst="line">
            <a:avLst/>
          </a:prstGeom>
          <a:ln w="19050">
            <a:solidFill>
              <a:srgbClr val="5A6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43200" y="4983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A6372"/>
                </a:solidFill>
                <a:latin typeface="Segoe UI"/>
              </a:rPr>
              <a:t>1 → N msgs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72200" y="4754880"/>
            <a:ext cx="640080" cy="0"/>
          </a:xfrm>
          <a:prstGeom prst="line">
            <a:avLst/>
          </a:prstGeom>
          <a:ln w="19050">
            <a:solidFill>
              <a:srgbClr val="5A6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89320" y="4983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A6372"/>
                </a:solidFill>
                <a:latin typeface="Segoe UI"/>
              </a:rPr>
              <a:t>attaches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636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372"/>
                </a:solidFill>
                <a:latin typeface="Segoe UI"/>
              </a:rPr>
              <a:t>Keys: PK = primary key (_id), FK = referenced ObjectId. Indexes: ChatSession(user, sessionKey) unique, ChatMessage(session, createdAt), ChatFile TTL on expiresAt, MessageDelivery(message, recipient) unique.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QUALITY ASSURANCE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Validation &amp;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833"/>
                </a:solidFill>
                <a:latin typeface="Segoe UI"/>
              </a:rPr>
              <a:t>A multi-layer strategy validates that EduNexus meets its functional and non-functional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657600" cy="502920"/>
          </a:xfrm>
          <a:prstGeom prst="roundRect">
            <a:avLst/>
          </a:prstGeom>
          <a:solidFill>
            <a:srgbClr val="0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3657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0" bIns="27432"/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222833"/>
                </a:solidFill>
                <a:latin typeface="Segoe UI"/>
              </a:rPr>
              <a:t/>
            </a:r>
            <a:r>
              <a:rPr b="1" sz="1250">
                <a:solidFill>
                  <a:srgbClr val="0E7C71"/>
                </a:solidFill>
              </a:rPr>
              <a:t>✓ </a:t>
            </a:r>
            <a:r>
              <a:rPr sz="1250">
                <a:solidFill>
                  <a:srgbClr val="222833"/>
                </a:solidFill>
                <a:latin typeface="Segoe UI"/>
              </a:rPr>
              <a:t>Input validation (empty / length / type) on every API.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0E7C71"/>
                </a:solidFill>
              </a:rPr>
              <a:t>✓ </a:t>
            </a:r>
            <a:r>
              <a:rPr sz="1250">
                <a:solidFill>
                  <a:srgbClr val="222833"/>
                </a:solidFill>
                <a:latin typeface="Segoe UI"/>
              </a:rPr>
              <a:t>Schema validation via Mongoose models.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0E7C71"/>
                </a:solidFill>
              </a:rPr>
              <a:t>✓ </a:t>
            </a:r>
            <a:r>
              <a:rPr sz="1250">
                <a:solidFill>
                  <a:srgbClr val="222833"/>
                </a:solidFill>
                <a:latin typeface="Segoe UI"/>
              </a:rPr>
              <a:t>JWT + role checks validate access on each request.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0E7C71"/>
                </a:solidFill>
              </a:rPr>
              <a:t>✓ </a:t>
            </a:r>
            <a:r>
              <a:rPr sz="1250">
                <a:solidFill>
                  <a:srgbClr val="222833"/>
                </a:solidFill>
                <a:latin typeface="Segoe UI"/>
              </a:rPr>
              <a:t>Requirement traceability — each FR mapped to a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920240"/>
            <a:ext cx="365760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Testing Levels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468880"/>
            <a:ext cx="3657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0" bIns="27432"/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222833"/>
                </a:solidFill>
                <a:latin typeface="Segoe UI"/>
              </a:rPr>
              <a:t/>
            </a:r>
            <a:r>
              <a:rPr b="1" sz="1250">
                <a:solidFill>
                  <a:srgbClr val="1F2A44"/>
                </a:solidFill>
              </a:rPr>
              <a:t>✓ </a:t>
            </a:r>
            <a:r>
              <a:rPr sz="1250">
                <a:solidFill>
                  <a:srgbClr val="222833"/>
                </a:solidFill>
                <a:latin typeface="Segoe UI"/>
              </a:rPr>
              <a:t>Unit testing — controllers, services, utils.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F2A44"/>
                </a:solidFill>
              </a:rPr>
              <a:t>✓ </a:t>
            </a:r>
            <a:r>
              <a:rPr sz="1250">
                <a:solidFill>
                  <a:srgbClr val="222833"/>
                </a:solidFill>
                <a:latin typeface="Segoe UI"/>
              </a:rPr>
              <a:t>Integration testing — API + DB + queue.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F2A44"/>
                </a:solidFill>
              </a:rPr>
              <a:t>✓ </a:t>
            </a:r>
            <a:r>
              <a:rPr sz="1250">
                <a:solidFill>
                  <a:srgbClr val="222833"/>
                </a:solidFill>
                <a:latin typeface="Segoe UI"/>
              </a:rPr>
              <a:t>System testing — end-to-end role workflows.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F2A44"/>
                </a:solidFill>
              </a:rPr>
              <a:t>✓ </a:t>
            </a:r>
            <a:r>
              <a:rPr sz="1250">
                <a:solidFill>
                  <a:srgbClr val="222833"/>
                </a:solidFill>
                <a:latin typeface="Segoe UI"/>
              </a:rPr>
              <a:t>User Acceptance Testing with sample school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920240"/>
            <a:ext cx="3657600" cy="5029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Techniques &amp;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468880"/>
            <a:ext cx="3657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0" bIns="27432"/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222833"/>
                </a:solidFill>
                <a:latin typeface="Segoe UI"/>
              </a:rPr>
              <a:t/>
            </a:r>
            <a:r>
              <a:rPr b="1" sz="1250">
                <a:solidFill>
                  <a:srgbClr val="F2A900"/>
                </a:solidFill>
              </a:rPr>
              <a:t>✓ </a:t>
            </a:r>
            <a:r>
              <a:rPr sz="1250">
                <a:solidFill>
                  <a:srgbClr val="222833"/>
                </a:solidFill>
                <a:latin typeface="Segoe UI"/>
              </a:rPr>
              <a:t>Black-box (functional) + White-box (unit).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F2A900"/>
                </a:solidFill>
              </a:rPr>
              <a:t>✓ </a:t>
            </a:r>
            <a:r>
              <a:rPr sz="1250">
                <a:solidFill>
                  <a:srgbClr val="222833"/>
                </a:solidFill>
                <a:latin typeface="Segoe UI"/>
              </a:rPr>
              <a:t>Manual exploratory + Postman API tests.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F2A900"/>
                </a:solidFill>
              </a:rPr>
              <a:t>✓ </a:t>
            </a:r>
            <a:r>
              <a:rPr sz="1250">
                <a:solidFill>
                  <a:srgbClr val="222833"/>
                </a:solidFill>
                <a:latin typeface="Segoe UI"/>
              </a:rPr>
              <a:t>Performance: 100 concurrent users, &lt;90s AI replies.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F2A900"/>
                </a:solidFill>
              </a:rPr>
              <a:t>✓ </a:t>
            </a:r>
            <a:r>
              <a:rPr sz="1250">
                <a:solidFill>
                  <a:srgbClr val="222833"/>
                </a:solidFill>
                <a:latin typeface="Segoe UI"/>
              </a:rPr>
              <a:t>Security: auth, RBAC &amp; rate-limit verification.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Segoe UI"/>
              </a:rPr>
              <a:t>Outcome: core modules pass functional tests; AI chat verified for correct role-scoping, caching, queue fallback and error handling.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FUNCTIONAL TESTING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Black-Box Test Cases — Chat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80160"/>
          <a:ext cx="107899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2743200"/>
                <a:gridCol w="4206240"/>
                <a:gridCol w="8229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marL="45720" marR="45720" marT="18288" marB="18288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Test Case</a:t>
                      </a:r>
                    </a:p>
                  </a:txBody>
                  <a:tcPr marL="45720" marR="45720" marT="18288" marB="18288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Input</a:t>
                      </a:r>
                    </a:p>
                  </a:txBody>
                  <a:tcPr marL="45720" marR="45720" marT="18288" marB="18288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Expected Result</a:t>
                      </a:r>
                    </a:p>
                  </a:txBody>
                  <a:tcPr marL="45720" marR="45720" marT="18288" marB="18288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45720" marR="45720" marT="18288" marB="18288">
                    <a:solidFill>
                      <a:srgbClr val="1F2A4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TC-01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Send valid query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Auth user posts "Show today's attendance"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200 OK; role-scoped reply with data returned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TC-02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Empty message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message = ""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400 Bad Request — "Message cannot be empty"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TC-03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Oversized message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&gt;2000 characters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400 Bad Request — length error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TC-04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Unauthenticated request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No / invalid JWT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401 Unauthorized; access denied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TC-05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Rate limit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3rd request within 30s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429 Too Many Requests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TC-06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Role scoping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Parent asks for staff salaries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Agent returns no out-of-scope data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TC-07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Cached query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Repeat same query in TTL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Fast cached response served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TC-08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Resume session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Open existing sessionKey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Prior messages loaded in order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TC-09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Download attachment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GET valid file owned by user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File streamed with correct mime-type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TC-10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Agent failure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n8n unreachable / 5xx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Graceful error message; no crash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8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100" b="1">
                <a:solidFill>
                  <a:srgbClr val="14B8A6"/>
                </a:solidFill>
                <a:latin typeface="Segoe UI"/>
              </a:rPr>
              <a:t>WHITE-BOX TESTING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Unit Test Cases — Chat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Segoe UI"/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2926080"/>
                <a:gridCol w="47091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marL="45720" marR="45720" marT="18288" marB="18288">
                    <a:solidFill>
                      <a:srgbClr val="0E7C7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Unit / Function</a:t>
                      </a:r>
                    </a:p>
                  </a:txBody>
                  <a:tcPr marL="45720" marR="45720" marT="18288" marB="18288">
                    <a:solidFill>
                      <a:srgbClr val="0E7C7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Scenario</a:t>
                      </a:r>
                    </a:p>
                  </a:txBody>
                  <a:tcPr marL="45720" marR="45720" marT="18288" marB="18288">
                    <a:solidFill>
                      <a:srgbClr val="0E7C7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Expected Output</a:t>
                      </a:r>
                    </a:p>
                  </a:txBody>
                  <a:tcPr marL="45720" marR="45720" marT="18288" marB="18288">
                    <a:solidFill>
                      <a:srgbClr val="0E7C71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UT-01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ensureSession()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New user, no sessionId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Creates ChatSession with role &amp; sessionKey = userId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UT-02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ensureSession()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Existing sessionKey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Returns same session; updates lastMessageAt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UT-03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sendMessage() validation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message is null/blank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Returns 400, no DB write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UT-04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persistAttachments()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base64 within size limit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Creates ChatFile; returns normalized url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UT-05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persistAttachments()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Attachment &gt; max bytes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Throws "exceeds maximum allowed size"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UT-06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processChat() extractReply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n8n returns [{output:'x'}]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Extracts reply = 'x'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UT-07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processChat() extractReply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Empty / null body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Returns agentError reply, no throw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UT-08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processChat() error path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Axios 4xx response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Returns agentDenied with status code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UT-09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getRoleAccessProfile()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role = 'parent'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Returns parent-scoped access profile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UT-10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cache get/set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set then get within TTL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Returns stored response object</a:t>
                      </a:r>
                    </a:p>
                  </a:txBody>
                  <a:tcPr marL="45720" marR="45720" marT="18288" marB="18288">
                    <a:solidFill>
                      <a:srgbClr val="E7EE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UT-11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downloadAttachment()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File not owned by user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833"/>
                          </a:solidFill>
                          <a:latin typeface="Segoe UI"/>
                        </a:rPr>
                        <a:t>Returns 404 (ownership enforced)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B8A6"/>
                </a:solidFill>
                <a:latin typeface="Segoe UI"/>
              </a:rPr>
              <a:t>EduNexus — An AI-Powered School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B8C2D4"/>
                </a:solidFill>
                <a:latin typeface="Segoe UI"/>
              </a:rPr>
              <a:t>Questions &amp;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